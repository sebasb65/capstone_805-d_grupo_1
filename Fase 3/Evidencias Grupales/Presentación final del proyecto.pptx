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i09HVPYdHcNrSTnapsWbx9ZRNz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af9bfe0e2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g3af9bfe0e21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2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8.png"/><Relationship Id="rId5" Type="http://schemas.openxmlformats.org/officeDocument/2006/relationships/image" Target="../media/image17.png"/><Relationship Id="rId6" Type="http://schemas.openxmlformats.org/officeDocument/2006/relationships/image" Target="../media/image4.jpg"/><Relationship Id="rId7" Type="http://schemas.openxmlformats.org/officeDocument/2006/relationships/image" Target="../media/image2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2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2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2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16.png"/><Relationship Id="rId5" Type="http://schemas.openxmlformats.org/officeDocument/2006/relationships/image" Target="../media/image2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hyperlink" Target="https://docs.google.com/spreadsheets/d/1sBEogdNWT8AVDd1tLJvALvUI_JRpdlhg/edit?gid=2114788500#gid=2114788500" TargetMode="External"/><Relationship Id="rId5" Type="http://schemas.openxmlformats.org/officeDocument/2006/relationships/image" Target="../media/image2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Relationship Id="rId4" Type="http://schemas.openxmlformats.org/officeDocument/2006/relationships/image" Target="../media/image15.png"/><Relationship Id="rId5" Type="http://schemas.openxmlformats.org/officeDocument/2006/relationships/image" Target="../media/image25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Relationship Id="rId4" Type="http://schemas.openxmlformats.org/officeDocument/2006/relationships/image" Target="../media/image25.jpg"/><Relationship Id="rId5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image" Target="../media/image18.png"/><Relationship Id="rId10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9" Type="http://schemas.openxmlformats.org/officeDocument/2006/relationships/image" Target="../media/image13.png"/><Relationship Id="rId15" Type="http://schemas.openxmlformats.org/officeDocument/2006/relationships/image" Target="../media/image11.png"/><Relationship Id="rId14" Type="http://schemas.openxmlformats.org/officeDocument/2006/relationships/image" Target="../media/image14.png"/><Relationship Id="rId16" Type="http://schemas.openxmlformats.org/officeDocument/2006/relationships/image" Target="../media/image25.jpg"/><Relationship Id="rId5" Type="http://schemas.openxmlformats.org/officeDocument/2006/relationships/image" Target="../media/image6.png"/><Relationship Id="rId6" Type="http://schemas.openxmlformats.org/officeDocument/2006/relationships/image" Target="../media/image9.png"/><Relationship Id="rId7" Type="http://schemas.openxmlformats.org/officeDocument/2006/relationships/image" Target="../media/image5.png"/><Relationship Id="rId8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Relationship Id="rId4" Type="http://schemas.openxmlformats.org/officeDocument/2006/relationships/image" Target="../media/image23.png"/><Relationship Id="rId5" Type="http://schemas.openxmlformats.org/officeDocument/2006/relationships/image" Target="../media/image25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Relationship Id="rId4" Type="http://schemas.openxmlformats.org/officeDocument/2006/relationships/image" Target="../media/image2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jpg"/><Relationship Id="rId4" Type="http://schemas.openxmlformats.org/officeDocument/2006/relationships/image" Target="../media/image19.png"/><Relationship Id="rId5" Type="http://schemas.openxmlformats.org/officeDocument/2006/relationships/image" Target="../media/image24.png"/><Relationship Id="rId6" Type="http://schemas.openxmlformats.org/officeDocument/2006/relationships/image" Target="../media/image25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Relationship Id="rId4" Type="http://schemas.openxmlformats.org/officeDocument/2006/relationships/image" Target="../media/image20.png"/><Relationship Id="rId5" Type="http://schemas.openxmlformats.org/officeDocument/2006/relationships/image" Target="../media/image2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Relationship Id="rId4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1154954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p1" title="Logo-YouConAPP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7461" y="2294042"/>
            <a:ext cx="4097084" cy="40970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1" name="Google Shape;9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2"/>
          <p:cNvGrpSpPr/>
          <p:nvPr/>
        </p:nvGrpSpPr>
        <p:grpSpPr>
          <a:xfrm>
            <a:off x="4224344" y="1610450"/>
            <a:ext cx="7831262" cy="4682935"/>
            <a:chOff x="0" y="0"/>
            <a:chExt cx="7633553" cy="4350553"/>
          </a:xfrm>
        </p:grpSpPr>
        <p:sp>
          <p:nvSpPr>
            <p:cNvPr id="93" name="Google Shape;93;p2"/>
            <p:cNvSpPr/>
            <p:nvPr/>
          </p:nvSpPr>
          <p:spPr>
            <a:xfrm>
              <a:off x="0" y="0"/>
              <a:ext cx="7633500" cy="1359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2"/>
            <p:cNvSpPr txBox="1"/>
            <p:nvPr/>
          </p:nvSpPr>
          <p:spPr>
            <a:xfrm>
              <a:off x="1662653" y="0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Sebastián Boris Araus</a:t>
              </a:r>
              <a:endParaRPr/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QA y Developer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Diseñar y ejecutar casos de prueba, Desarrollador.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Giovanni Galleguillos Soto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Aclarar requisitos y validar las entregas del sprint, Desarrollador.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Luis Rojas Espinoza</a:t>
              </a:r>
              <a:endParaRPr/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Coordinar reuniones y eliminar impedimentos, Desarrollador.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9" name="Google Shape;99;p2"/>
          <p:cNvSpPr txBox="1"/>
          <p:nvPr/>
        </p:nvSpPr>
        <p:spPr>
          <a:xfrm>
            <a:off x="136188" y="38870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36200" y="3351612"/>
            <a:ext cx="3702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02" name="Google Shape;102;p2"/>
          <p:cNvSpPr/>
          <p:nvPr/>
        </p:nvSpPr>
        <p:spPr>
          <a:xfrm>
            <a:off x="4328936" y="4910039"/>
            <a:ext cx="1597800" cy="1282800"/>
          </a:xfrm>
          <a:prstGeom prst="roundRect">
            <a:avLst>
              <a:gd fmla="val 16667" name="adj"/>
            </a:avLst>
          </a:prstGeom>
          <a:solidFill>
            <a:srgbClr val="C3D4EB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30988" y="4961543"/>
            <a:ext cx="1597800" cy="11802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sp>
        <p:nvSpPr>
          <p:cNvPr id="104" name="Google Shape;104;p2"/>
          <p:cNvSpPr/>
          <p:nvPr/>
        </p:nvSpPr>
        <p:spPr>
          <a:xfrm>
            <a:off x="4328936" y="1716452"/>
            <a:ext cx="1597800" cy="1282800"/>
          </a:xfrm>
          <a:prstGeom prst="roundRect">
            <a:avLst>
              <a:gd fmla="val 16667" name="adj"/>
            </a:avLst>
          </a:prstGeom>
          <a:solidFill>
            <a:srgbClr val="C3D4EB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2"/>
          <p:cNvPicPr preferRelativeResize="0"/>
          <p:nvPr/>
        </p:nvPicPr>
        <p:blipFill rotWithShape="1">
          <a:blip r:embed="rId5">
            <a:alphaModFix/>
          </a:blip>
          <a:srcRect b="4168" l="0" r="0" t="0"/>
          <a:stretch/>
        </p:blipFill>
        <p:spPr>
          <a:xfrm>
            <a:off x="4330988" y="1767956"/>
            <a:ext cx="1597800" cy="11802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106" name="Google Shape;106;p2"/>
          <p:cNvSpPr/>
          <p:nvPr/>
        </p:nvSpPr>
        <p:spPr>
          <a:xfrm>
            <a:off x="4328936" y="3313245"/>
            <a:ext cx="1597800" cy="1282800"/>
          </a:xfrm>
          <a:prstGeom prst="roundRect">
            <a:avLst>
              <a:gd fmla="val 16667" name="adj"/>
            </a:avLst>
          </a:prstGeom>
          <a:solidFill>
            <a:srgbClr val="C3D4EB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2" title="foto_formal.jpeg"/>
          <p:cNvPicPr preferRelativeResize="0"/>
          <p:nvPr/>
        </p:nvPicPr>
        <p:blipFill rotWithShape="1">
          <a:blip r:embed="rId6">
            <a:alphaModFix/>
          </a:blip>
          <a:srcRect b="0" l="0" r="0" t="24425"/>
          <a:stretch/>
        </p:blipFill>
        <p:spPr>
          <a:xfrm>
            <a:off x="4328925" y="3364550"/>
            <a:ext cx="1597800" cy="1180200"/>
          </a:xfrm>
          <a:prstGeom prst="roundRect">
            <a:avLst>
              <a:gd fmla="val 16667" name="adj"/>
            </a:avLst>
          </a:prstGeom>
          <a:solidFill>
            <a:srgbClr val="C3D4EB"/>
          </a:solidFill>
          <a:ln>
            <a:noFill/>
          </a:ln>
        </p:spPr>
      </p:pic>
      <p:pic>
        <p:nvPicPr>
          <p:cNvPr id="108" name="Google Shape;108;p2" title="Logo-YouConAPP.jpg"/>
          <p:cNvPicPr preferRelativeResize="0"/>
          <p:nvPr/>
        </p:nvPicPr>
        <p:blipFill rotWithShape="1">
          <a:blip r:embed="rId7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/>
          <p:nvPr/>
        </p:nvSpPr>
        <p:spPr>
          <a:xfrm>
            <a:off x="851834" y="2041769"/>
            <a:ext cx="43488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agricultores de Frutillas de la comuna de San Pedro de Melipilla, llevan los registros de sus cosechas en papel y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lápiz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lo cual es anticuado y a su vez poco eficiente a la hora de tener que pagarle a un colaborador,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además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esto ellos no cuentan con el conocimiento sobre las ganancias o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pérdidas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dentro de su sector laboral, en resumidas cuentas invierten su dinero sin saber la rentabilidad real de su negocio.</a:t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scuelaIT Duoc UC - Escuela de Informática y Telecomunicaciones Duoc UC - Duoc  UC | LinkedIn"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0" y="107664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8" name="Google Shape;118;p3"/>
          <p:cNvSpPr/>
          <p:nvPr/>
        </p:nvSpPr>
        <p:spPr>
          <a:xfrm>
            <a:off x="6896129" y="2041775"/>
            <a:ext cx="43488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Nuestra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 “YouConAPP”, una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aplicación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móvil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que centraliza el registro de cultivos, actividades y pagos, permitiendo a los agricultores organizar su información, mejorar el control de costos y obtener mayor transparencia en todas sus operaciones, de esta manera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planteamos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que el agricultor tenga en la palma de su mano la 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completa de su negocio.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5525703" y="3845033"/>
            <a:ext cx="1140600" cy="7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3" title="Logo-YouConAPP.jpg"/>
          <p:cNvPicPr preferRelativeResize="0"/>
          <p:nvPr/>
        </p:nvPicPr>
        <p:blipFill rotWithShape="1">
          <a:blip r:embed="rId4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5" name="Google Shape;12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27" name="Google Shape;127;p4"/>
          <p:cNvSpPr txBox="1"/>
          <p:nvPr/>
        </p:nvSpPr>
        <p:spPr>
          <a:xfrm>
            <a:off x="-100" y="115910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8" name="Google Shape;128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9" name="Google Shape;129;p4"/>
          <p:cNvSpPr txBox="1"/>
          <p:nvPr/>
        </p:nvSpPr>
        <p:spPr>
          <a:xfrm>
            <a:off x="1" y="3850896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83540" y="2040571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Convertirse en la herramienta más práctica y confiable para la gestión agrícola digital, permitiendo que agricultores y administradores controlen su negocio desde un solo lugar.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583514" y="4587857"/>
            <a:ext cx="10962900" cy="1575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-Facilitar el ingreso de información diaria mediante una interfaz simple, intuitiva y accesible.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-Registrar y visualizar pagos e ingresos de manera clara y ordenada, aumentando la confianza del agricultor en su gestión financiera.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-Proporcionar datos organizados y accesibles que permitan evaluar rendimiento y planificar mejor la producción.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4" title="Logo-YouConAPP.jpg"/>
          <p:cNvPicPr preferRelativeResize="0"/>
          <p:nvPr/>
        </p:nvPicPr>
        <p:blipFill rotWithShape="1">
          <a:blip r:embed="rId4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7" name="Google Shape;13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0" y="107652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 sz="3600"/>
          </a:p>
        </p:txBody>
      </p:sp>
      <p:cxnSp>
        <p:nvCxnSpPr>
          <p:cNvPr id="140" name="Google Shape;140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1" name="Google Shape;141;p5"/>
          <p:cNvSpPr txBox="1"/>
          <p:nvPr/>
        </p:nvSpPr>
        <p:spPr>
          <a:xfrm>
            <a:off x="223800" y="2338050"/>
            <a:ext cx="60267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Registro digital de cultivos y actividades.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Gestión de pagos y transparencia financiera.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Interfaz móvil intuitiva y fácil de usar.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APK del Producto mínimo viable de YouConApp.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 txBox="1"/>
          <p:nvPr/>
        </p:nvSpPr>
        <p:spPr>
          <a:xfrm>
            <a:off x="6472200" y="2338050"/>
            <a:ext cx="5510700" cy="35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Dependencia de Conexión a Internet.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 de Tiempo.</a:t>
            </a: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Transacciones Bancarias.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libri"/>
              <a:buChar char="●"/>
            </a:pP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Disponible </a:t>
            </a: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únicamente</a:t>
            </a: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para android con pronta escalabilidad </a:t>
            </a: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</a:t>
            </a:r>
            <a:r>
              <a:rPr lang="es-CL" sz="2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IOS.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3" name="Google Shape;143;p5" title="Logo-YouConAPP.jpg"/>
          <p:cNvPicPr preferRelativeResize="0"/>
          <p:nvPr/>
        </p:nvPicPr>
        <p:blipFill rotWithShape="1">
          <a:blip r:embed="rId4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8" name="Google Shape;14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50" name="Google Shape;150;p6"/>
          <p:cNvSpPr txBox="1"/>
          <p:nvPr/>
        </p:nvSpPr>
        <p:spPr>
          <a:xfrm>
            <a:off x="61925" y="107660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1" name="Google Shape;15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2" name="Google Shape;152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8500" y="2338050"/>
            <a:ext cx="5754049" cy="359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6" title="Logo-YouConAPP.jpg"/>
          <p:cNvPicPr preferRelativeResize="0"/>
          <p:nvPr/>
        </p:nvPicPr>
        <p:blipFill rotWithShape="1">
          <a:blip r:embed="rId5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8" name="Google Shape;15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1" y="1078256"/>
            <a:ext cx="12192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sz="36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1" name="Google Shape;161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2" name="Google Shape;162;p7"/>
          <p:cNvSpPr txBox="1"/>
          <p:nvPr/>
        </p:nvSpPr>
        <p:spPr>
          <a:xfrm>
            <a:off x="4053150" y="2537625"/>
            <a:ext cx="4085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100" u="sng">
                <a:solidFill>
                  <a:schemeClr val="hlink"/>
                </a:solidFill>
                <a:hlinkClick r:id="rId4"/>
              </a:rPr>
              <a:t>Documento Sprint Backlog - YouConAPP.xlsx - Hojas de cálculo de Google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3" name="Google Shape;163;p7" title="Logo-YouConAPP.jpg"/>
          <p:cNvPicPr preferRelativeResize="0"/>
          <p:nvPr/>
        </p:nvPicPr>
        <p:blipFill rotWithShape="1">
          <a:blip r:embed="rId5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8" name="Google Shape;16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0" y="1035477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 sz="36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1" name="Google Shape;171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2" name="Google Shape;172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2888" y="1939950"/>
            <a:ext cx="8186214" cy="449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8" title="Logo-YouConAPP.jpg"/>
          <p:cNvPicPr preferRelativeResize="0"/>
          <p:nvPr/>
        </p:nvPicPr>
        <p:blipFill rotWithShape="1">
          <a:blip r:embed="rId5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8" name="Google Shape;17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80" name="Google Shape;180;p9"/>
          <p:cNvSpPr txBox="1"/>
          <p:nvPr/>
        </p:nvSpPr>
        <p:spPr>
          <a:xfrm>
            <a:off x="0" y="738242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sz="3600"/>
          </a:p>
        </p:txBody>
      </p:sp>
      <p:cxnSp>
        <p:nvCxnSpPr>
          <p:cNvPr id="181" name="Google Shape;181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2" name="Google Shape;182;p9" title="Logo-YouConAPP.jpg"/>
          <p:cNvPicPr preferRelativeResize="0"/>
          <p:nvPr/>
        </p:nvPicPr>
        <p:blipFill rotWithShape="1">
          <a:blip r:embed="rId4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9" title="Diagrama_Model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1900" y="1384750"/>
            <a:ext cx="7096950" cy="5416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8" name="Google Shape;18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190" name="Google Shape;190;p10"/>
          <p:cNvSpPr txBox="1"/>
          <p:nvPr/>
        </p:nvSpPr>
        <p:spPr>
          <a:xfrm>
            <a:off x="0" y="100091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91" name="Google Shape;191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92" name="Google Shape;192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06475" y="2033738"/>
            <a:ext cx="906399" cy="906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88688" y="3824750"/>
            <a:ext cx="1194900" cy="119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97525" y="2045288"/>
            <a:ext cx="869575" cy="86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0"/>
          <p:cNvSpPr txBox="1"/>
          <p:nvPr/>
        </p:nvSpPr>
        <p:spPr>
          <a:xfrm>
            <a:off x="749975" y="3067700"/>
            <a:ext cx="13647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Interfaz UI móvil multiplataforma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13888" y="2033738"/>
            <a:ext cx="951300" cy="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0"/>
          <p:cNvSpPr txBox="1"/>
          <p:nvPr/>
        </p:nvSpPr>
        <p:spPr>
          <a:xfrm>
            <a:off x="2366375" y="3067700"/>
            <a:ext cx="1762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Lógica de negocio y arquitectura modular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1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730576" y="2033761"/>
            <a:ext cx="869574" cy="869604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0"/>
          <p:cNvSpPr txBox="1"/>
          <p:nvPr/>
        </p:nvSpPr>
        <p:spPr>
          <a:xfrm>
            <a:off x="4228125" y="3067700"/>
            <a:ext cx="1762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Tipado estricto y seguridad de código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1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21638" y="1890300"/>
            <a:ext cx="1099275" cy="109927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0"/>
          <p:cNvSpPr txBox="1"/>
          <p:nvPr/>
        </p:nvSpPr>
        <p:spPr>
          <a:xfrm>
            <a:off x="6069000" y="3067700"/>
            <a:ext cx="17628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Gestión segura de identidad y sesiones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2" name="Google Shape;202;p1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351338" y="1890304"/>
            <a:ext cx="869575" cy="1018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0"/>
          <p:cNvSpPr txBox="1"/>
          <p:nvPr/>
        </p:nvSpPr>
        <p:spPr>
          <a:xfrm>
            <a:off x="7798100" y="3067700"/>
            <a:ext cx="19761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Base de datos NoSQL en tiempo real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1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22813" y="4080913"/>
            <a:ext cx="1019000" cy="101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0"/>
          <p:cNvSpPr txBox="1"/>
          <p:nvPr/>
        </p:nvSpPr>
        <p:spPr>
          <a:xfrm>
            <a:off x="396123" y="5209313"/>
            <a:ext cx="20724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Puente a APIs nativas (Filesystem/Share)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1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2739887" y="4044437"/>
            <a:ext cx="1099276" cy="1099276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0"/>
          <p:cNvSpPr txBox="1"/>
          <p:nvPr/>
        </p:nvSpPr>
        <p:spPr>
          <a:xfrm>
            <a:off x="2253335" y="5209325"/>
            <a:ext cx="20724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Programación reactiva 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y flujos asíncronos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10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4780213" y="4026734"/>
            <a:ext cx="770350" cy="1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0"/>
          <p:cNvSpPr txBox="1"/>
          <p:nvPr/>
        </p:nvSpPr>
        <p:spPr>
          <a:xfrm>
            <a:off x="4129185" y="5209313"/>
            <a:ext cx="20724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Generación dinámica de reportes PDF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10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421613" y="4000625"/>
            <a:ext cx="1099300" cy="10993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0"/>
          <p:cNvSpPr txBox="1"/>
          <p:nvPr/>
        </p:nvSpPr>
        <p:spPr>
          <a:xfrm>
            <a:off x="5935085" y="5209325"/>
            <a:ext cx="20724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Visualización de datos interactiva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 txBox="1"/>
          <p:nvPr/>
        </p:nvSpPr>
        <p:spPr>
          <a:xfrm>
            <a:off x="7749948" y="5209325"/>
            <a:ext cx="20724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Compilación y generación de APK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 txBox="1"/>
          <p:nvPr/>
        </p:nvSpPr>
        <p:spPr>
          <a:xfrm>
            <a:off x="9771625" y="3067700"/>
            <a:ext cx="1976100" cy="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Entorno de desarrollo optimizado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 txBox="1"/>
          <p:nvPr/>
        </p:nvSpPr>
        <p:spPr>
          <a:xfrm>
            <a:off x="9723473" y="5209325"/>
            <a:ext cx="2072400" cy="5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chemeClr val="dk1"/>
                </a:solidFill>
              </a:rPr>
              <a:t>Control de versiones colaborativo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10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10250175" y="3994900"/>
            <a:ext cx="1019000" cy="101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0" title="Logo-YouConAPP.jpg"/>
          <p:cNvPicPr preferRelativeResize="0"/>
          <p:nvPr/>
        </p:nvPicPr>
        <p:blipFill rotWithShape="1">
          <a:blip r:embed="rId16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1" name="Google Shape;22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2"/>
          <p:cNvSpPr txBox="1"/>
          <p:nvPr/>
        </p:nvSpPr>
        <p:spPr>
          <a:xfrm>
            <a:off x="1" y="109527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 sz="3600"/>
          </a:p>
        </p:txBody>
      </p:sp>
      <p:sp>
        <p:nvSpPr>
          <p:cNvPr id="223" name="Google Shape;223;p12"/>
          <p:cNvSpPr txBox="1"/>
          <p:nvPr/>
        </p:nvSpPr>
        <p:spPr>
          <a:xfrm>
            <a:off x="1886350" y="1934300"/>
            <a:ext cx="7977000" cy="31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2921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Cumplimiento: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100% de las 25 Historias de Usuario implementadas.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921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●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Calidad: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Aplicación estable, sin errores bloqueantes en el flujo principal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921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●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Producto: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APK generado y funcional en dispositivos Android.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921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●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Gestión: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Mantuvimos una comunicación constante y una organización clara de tareas.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5475" y="4009875"/>
            <a:ext cx="2378726" cy="20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12" title="Logo-YouConAPP.jpg"/>
          <p:cNvPicPr preferRelativeResize="0"/>
          <p:nvPr/>
        </p:nvPicPr>
        <p:blipFill rotWithShape="1">
          <a:blip r:embed="rId5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0" name="Google Shape;23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3"/>
          <p:cNvSpPr txBox="1"/>
          <p:nvPr/>
        </p:nvSpPr>
        <p:spPr>
          <a:xfrm>
            <a:off x="1" y="1082098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 sz="3600"/>
          </a:p>
        </p:txBody>
      </p:sp>
      <p:sp>
        <p:nvSpPr>
          <p:cNvPr id="232" name="Google Shape;232;p13"/>
          <p:cNvSpPr txBox="1"/>
          <p:nvPr/>
        </p:nvSpPr>
        <p:spPr>
          <a:xfrm>
            <a:off x="1103025" y="2126150"/>
            <a:ext cx="9863400" cy="39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2921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●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Dificultad Principal: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Gestión y Metodología Ágil.</a:t>
            </a:r>
            <a:endParaRPr b="1"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5588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○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El Problema: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Aunque definimos Sprints, en la práctica tuvimos dificultades para mantener la ritualidad estricta (Daily Meetings, actualizaciones de Trello en tiempo real) debido a cargas académicas externas.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5588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○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Impacto: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Esto generó momentos de "descoordinación" donde la documentación (Trello)   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no reflejaba el avance real del código, acumulando deuda administrativa hacia el final de los sprints.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5588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○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Evidencia: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Como se reportó en los informes de avance, hubo retrasos en la subida de evidencias documentales en los primeros sprints.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55880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○  	</a:t>
            </a:r>
            <a:r>
              <a:rPr b="1"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Solución Aplicada:</a:t>
            </a:r>
            <a:r>
              <a:rPr lang="es-CL" sz="1900">
                <a:solidFill>
                  <a:srgbClr val="1F1F1F"/>
                </a:solidFill>
                <a:latin typeface="Calibri"/>
                <a:ea typeface="Calibri"/>
                <a:cs typeface="Calibri"/>
                <a:sym typeface="Calibri"/>
              </a:rPr>
              <a:t> Se realizaron jornadas intensivas de alineación para sincronizar el código con la documentación y cumplir con la entrega final.</a:t>
            </a:r>
            <a:endParaRPr sz="19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558800" rtl="0" algn="l">
              <a:lnSpc>
                <a:spcPct val="114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13" title="Logo-YouConAPP.jpg"/>
          <p:cNvPicPr preferRelativeResize="0"/>
          <p:nvPr/>
        </p:nvPicPr>
        <p:blipFill rotWithShape="1">
          <a:blip r:embed="rId4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8" name="Google Shape;238;g3af9bfe0e21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g3af9bfe0e21_0_1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“YouConAPP”</a:t>
            </a:r>
            <a:endParaRPr/>
          </a:p>
        </p:txBody>
      </p:sp>
      <p:sp>
        <p:nvSpPr>
          <p:cNvPr id="240" name="Google Shape;240;g3af9bfe0e21_0_1"/>
          <p:cNvSpPr txBox="1"/>
          <p:nvPr/>
        </p:nvSpPr>
        <p:spPr>
          <a:xfrm>
            <a:off x="136200" y="1551140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Evidencias (Trello y GitHub)</a:t>
            </a:r>
            <a:endParaRPr sz="36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41" name="Google Shape;241;g3af9bfe0e21_0_1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42" name="Google Shape;242;g3af9bfe0e21_0_1"/>
          <p:cNvPicPr preferRelativeResize="0"/>
          <p:nvPr/>
        </p:nvPicPr>
        <p:blipFill rotWithShape="1">
          <a:blip r:embed="rId4">
            <a:alphaModFix/>
          </a:blip>
          <a:srcRect b="25086" l="0" r="0" t="23518"/>
          <a:stretch/>
        </p:blipFill>
        <p:spPr>
          <a:xfrm>
            <a:off x="6970700" y="2413050"/>
            <a:ext cx="4669825" cy="1622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g3af9bfe0e21_0_1"/>
          <p:cNvPicPr preferRelativeResize="0"/>
          <p:nvPr/>
        </p:nvPicPr>
        <p:blipFill rotWithShape="1">
          <a:blip r:embed="rId5">
            <a:alphaModFix/>
          </a:blip>
          <a:srcRect b="22083" l="0" r="0" t="21365"/>
          <a:stretch/>
        </p:blipFill>
        <p:spPr>
          <a:xfrm>
            <a:off x="1935000" y="2541526"/>
            <a:ext cx="4291425" cy="136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g3af9bfe0e21_0_1" title="Logo-YouConAPP.jpg"/>
          <p:cNvPicPr preferRelativeResize="0"/>
          <p:nvPr/>
        </p:nvPicPr>
        <p:blipFill rotWithShape="1">
          <a:blip r:embed="rId6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49" name="Google Shape;24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1"/>
          <p:cNvSpPr txBox="1"/>
          <p:nvPr/>
        </p:nvSpPr>
        <p:spPr>
          <a:xfrm>
            <a:off x="1" y="1082317"/>
            <a:ext cx="12192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 sz="36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11" title="Enlace APK YouConAp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99275" y="2683550"/>
            <a:ext cx="3793450" cy="379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1"/>
          <p:cNvSpPr txBox="1"/>
          <p:nvPr/>
        </p:nvSpPr>
        <p:spPr>
          <a:xfrm>
            <a:off x="4400550" y="2157725"/>
            <a:ext cx="3390900" cy="4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-CL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Prueba Nuestra App!</a:t>
            </a:r>
            <a:endParaRPr b="1" i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11" title="Logo-YouConAPP.jpg"/>
          <p:cNvPicPr preferRelativeResize="0"/>
          <p:nvPr/>
        </p:nvPicPr>
        <p:blipFill rotWithShape="1">
          <a:blip r:embed="rId5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58" name="Google Shape;25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14"/>
          <p:cNvSpPr txBox="1"/>
          <p:nvPr/>
        </p:nvSpPr>
        <p:spPr>
          <a:xfrm>
            <a:off x="-54175" y="107822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 sz="3600"/>
          </a:p>
        </p:txBody>
      </p:sp>
      <p:pic>
        <p:nvPicPr>
          <p:cNvPr id="260" name="Google Shape;260;p14" title="Logo-YouConAPP.jpg"/>
          <p:cNvPicPr preferRelativeResize="0"/>
          <p:nvPr/>
        </p:nvPicPr>
        <p:blipFill rotWithShape="1">
          <a:blip r:embed="rId4">
            <a:alphaModFix amt="34000"/>
          </a:blip>
          <a:srcRect b="4404" l="5467" r="5485" t="4395"/>
          <a:stretch/>
        </p:blipFill>
        <p:spPr>
          <a:xfrm>
            <a:off x="0" y="6141750"/>
            <a:ext cx="699376" cy="716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