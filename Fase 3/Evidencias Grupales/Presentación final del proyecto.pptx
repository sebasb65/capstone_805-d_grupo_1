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A9dsNJAubbQrUbKkcttB/eybj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f9bfe0e2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af9bfe0e21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jpg"/><Relationship Id="rId7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hyperlink" Target="https://docs.google.com/spreadsheets/d/1sBEogdNWT8AVDd1tLJvALvUI_JRpdlhg/edit?gid=2114788500#gid=2114788500" TargetMode="External"/><Relationship Id="rId5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7.png"/><Relationship Id="rId5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4.png"/><Relationship Id="rId13" Type="http://schemas.openxmlformats.org/officeDocument/2006/relationships/image" Target="../media/image21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2.png"/><Relationship Id="rId9" Type="http://schemas.openxmlformats.org/officeDocument/2006/relationships/image" Target="../media/image22.png"/><Relationship Id="rId15" Type="http://schemas.openxmlformats.org/officeDocument/2006/relationships/image" Target="../media/image11.png"/><Relationship Id="rId14" Type="http://schemas.openxmlformats.org/officeDocument/2006/relationships/image" Target="../media/image17.png"/><Relationship Id="rId16" Type="http://schemas.openxmlformats.org/officeDocument/2006/relationships/image" Target="../media/image13.jpg"/><Relationship Id="rId5" Type="http://schemas.openxmlformats.org/officeDocument/2006/relationships/image" Target="../media/image10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Relationship Id="rId8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20.png"/><Relationship Id="rId5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24.png"/><Relationship Id="rId5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1154954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" title="Logo-YouConAPP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7461" y="2294042"/>
            <a:ext cx="4097084" cy="4097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2"/>
          <p:cNvGrpSpPr/>
          <p:nvPr/>
        </p:nvGrpSpPr>
        <p:grpSpPr>
          <a:xfrm>
            <a:off x="4224344" y="1610450"/>
            <a:ext cx="7831262" cy="4682935"/>
            <a:chOff x="0" y="0"/>
            <a:chExt cx="7633553" cy="4350553"/>
          </a:xfrm>
        </p:grpSpPr>
        <p:sp>
          <p:nvSpPr>
            <p:cNvPr id="93" name="Google Shape;93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Sebastián Boris Araus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QA y Developer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Diseñar y ejecutar casos de prueba, Desarrollador.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Giovanni Galleguillos Soto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Aclarar requisitos y validar las entregas del sprint, Desarrollador.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Luis Rojas Espinoza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Coordinar reuniones y eliminar impedimentos, Desarrollador.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2"/>
          <p:cNvSpPr txBox="1"/>
          <p:nvPr/>
        </p:nvSpPr>
        <p:spPr>
          <a:xfrm>
            <a:off x="136188" y="388703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36200" y="3351612"/>
            <a:ext cx="3702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2"/>
          <p:cNvSpPr/>
          <p:nvPr/>
        </p:nvSpPr>
        <p:spPr>
          <a:xfrm>
            <a:off x="4328936" y="4910039"/>
            <a:ext cx="1597800" cy="1282800"/>
          </a:xfrm>
          <a:prstGeom prst="roundRect">
            <a:avLst>
              <a:gd fmla="val 16667" name="adj"/>
            </a:avLst>
          </a:prstGeom>
          <a:solidFill>
            <a:srgbClr val="C3D4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0988" y="4961543"/>
            <a:ext cx="1597800" cy="11802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4" name="Google Shape;104;p2"/>
          <p:cNvSpPr/>
          <p:nvPr/>
        </p:nvSpPr>
        <p:spPr>
          <a:xfrm>
            <a:off x="4328936" y="1716452"/>
            <a:ext cx="1597800" cy="1282800"/>
          </a:xfrm>
          <a:prstGeom prst="roundRect">
            <a:avLst>
              <a:gd fmla="val 16667" name="adj"/>
            </a:avLst>
          </a:prstGeom>
          <a:solidFill>
            <a:srgbClr val="C3D4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5">
            <a:alphaModFix/>
          </a:blip>
          <a:srcRect b="4168" l="0" r="0" t="0"/>
          <a:stretch/>
        </p:blipFill>
        <p:spPr>
          <a:xfrm>
            <a:off x="4330988" y="1767956"/>
            <a:ext cx="1597800" cy="1180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6" name="Google Shape;106;p2"/>
          <p:cNvSpPr/>
          <p:nvPr/>
        </p:nvSpPr>
        <p:spPr>
          <a:xfrm>
            <a:off x="4328936" y="3313245"/>
            <a:ext cx="1597800" cy="1282800"/>
          </a:xfrm>
          <a:prstGeom prst="roundRect">
            <a:avLst>
              <a:gd fmla="val 16667" name="adj"/>
            </a:avLst>
          </a:prstGeom>
          <a:solidFill>
            <a:srgbClr val="C3D4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2" title="foto_formal.jpeg"/>
          <p:cNvPicPr preferRelativeResize="0"/>
          <p:nvPr/>
        </p:nvPicPr>
        <p:blipFill rotWithShape="1">
          <a:blip r:embed="rId6">
            <a:alphaModFix/>
          </a:blip>
          <a:srcRect b="0" l="0" r="0" t="24425"/>
          <a:stretch/>
        </p:blipFill>
        <p:spPr>
          <a:xfrm>
            <a:off x="4328925" y="3364550"/>
            <a:ext cx="1597800" cy="1180200"/>
          </a:xfrm>
          <a:prstGeom prst="roundRect">
            <a:avLst>
              <a:gd fmla="val 16667" name="adj"/>
            </a:avLst>
          </a:prstGeom>
          <a:solidFill>
            <a:srgbClr val="C3D4EB"/>
          </a:solidFill>
          <a:ln>
            <a:noFill/>
          </a:ln>
        </p:spPr>
      </p:pic>
      <p:pic>
        <p:nvPicPr>
          <p:cNvPr id="108" name="Google Shape;108;p2" title="Logo-YouConAPP.jpg"/>
          <p:cNvPicPr preferRelativeResize="0"/>
          <p:nvPr/>
        </p:nvPicPr>
        <p:blipFill rotWithShape="1">
          <a:blip r:embed="rId7">
            <a:alphaModFix amt="34000"/>
          </a:blip>
          <a:srcRect b="4404" l="5467" r="5485" t="4395"/>
          <a:stretch/>
        </p:blipFill>
        <p:spPr>
          <a:xfrm>
            <a:off x="0" y="6141750"/>
            <a:ext cx="699376" cy="71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851834" y="2041769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agricultores de Frutillas de la comuna de San Pedro de Melipilla, llevan los registros de sus cosechas en papel y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lápiz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lo cual es anticuado y a su vez poco eficiente a la hora de tener que pagarle a un colaborador,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además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esto ellos no cuentan con el conocimiento sobre las ganancias o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pérdidas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dentro de su sector laboral, en resumidas cuentas invierten su dinero sin saber la rentabilidad real de su negocio.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0" y="10766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3"/>
          <p:cNvSpPr/>
          <p:nvPr/>
        </p:nvSpPr>
        <p:spPr>
          <a:xfrm>
            <a:off x="6896129" y="2041775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Nuestra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“YouConAPP”, una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móvil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que centraliza el registro de cultivos, actividades y pagos, permitiendo a los agricultores organizar su información, mejorar el control de costos y obtener mayor transparencia en todas sus operaciones, de esta manera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planteamos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el agricultor tenga en la palma de su mano la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completa de su negocio.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5525703" y="3845033"/>
            <a:ext cx="1140600" cy="7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3" title="Logo-YouConAPP.jpg"/>
          <p:cNvPicPr preferRelativeResize="0"/>
          <p:nvPr/>
        </p:nvPicPr>
        <p:blipFill rotWithShape="1">
          <a:blip r:embed="rId4">
            <a:alphaModFix amt="34000"/>
          </a:blip>
          <a:srcRect b="4404" l="5467" r="5485" t="4395"/>
          <a:stretch/>
        </p:blipFill>
        <p:spPr>
          <a:xfrm>
            <a:off x="0" y="6141750"/>
            <a:ext cx="699376" cy="71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-100" y="115910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4"/>
          <p:cNvSpPr txBox="1"/>
          <p:nvPr/>
        </p:nvSpPr>
        <p:spPr>
          <a:xfrm>
            <a:off x="1" y="385089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83540" y="2040571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Convertirse en la herramienta más práctica y confiable para la gestión agrícola digital, permitiendo que agricultores y administradores controlen su negocio desde un solo lugar.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83514" y="4587857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-Facilitar el ingreso de información diaria mediante una interfaz simple, intuitiva y accesible.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-Registrar y visualizar pagos e ingresos de manera clara y ordenada, aumentando la confianza del agricultor en su gestión financiera.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-Proporcionar datos organizados y accesibles que permitan evaluar rendimiento y planificar mejor la producción.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4" title="Logo-YouConAPP.jpg"/>
          <p:cNvPicPr preferRelativeResize="0"/>
          <p:nvPr/>
        </p:nvPicPr>
        <p:blipFill rotWithShape="1">
          <a:blip r:embed="rId4">
            <a:alphaModFix amt="34000"/>
          </a:blip>
          <a:srcRect b="4404" l="5467" r="5485" t="4395"/>
          <a:stretch/>
        </p:blipFill>
        <p:spPr>
          <a:xfrm>
            <a:off x="0" y="6141750"/>
            <a:ext cx="699376" cy="71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0" y="107652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sz="3600"/>
          </a:p>
        </p:txBody>
      </p:sp>
      <p:cxnSp>
        <p:nvCxnSpPr>
          <p:cNvPr id="140" name="Google Shape;140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p5"/>
          <p:cNvSpPr txBox="1"/>
          <p:nvPr/>
        </p:nvSpPr>
        <p:spPr>
          <a:xfrm>
            <a:off x="223800" y="2338050"/>
            <a:ext cx="60267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digital de cultivos y actividades.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pagos y transparencia financiera.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móvil intuitiva y fácil de usar.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APK del Producto mínimo viable de YouConApp.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6472200" y="2338050"/>
            <a:ext cx="55107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de Conexión a Internet.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 de Tiempo.</a:t>
            </a: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Transacciones Bancarias.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Disponible </a:t>
            </a: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únicamente</a:t>
            </a: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android con pronta escalabilidad </a:t>
            </a: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</a:t>
            </a: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IOS.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5" title="Logo-YouConAPP.jpg"/>
          <p:cNvPicPr preferRelativeResize="0"/>
          <p:nvPr/>
        </p:nvPicPr>
        <p:blipFill rotWithShape="1">
          <a:blip r:embed="rId4">
            <a:alphaModFix amt="34000"/>
          </a:blip>
          <a:srcRect b="4404" l="5467" r="5485" t="4395"/>
          <a:stretch/>
        </p:blipFill>
        <p:spPr>
          <a:xfrm>
            <a:off x="0" y="6141750"/>
            <a:ext cx="699376" cy="71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61925" y="10766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2" name="Google Shape;15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500" y="2338050"/>
            <a:ext cx="5754049" cy="359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6" title="Logo-YouConAPP.jpg"/>
          <p:cNvPicPr preferRelativeResize="0"/>
          <p:nvPr/>
        </p:nvPicPr>
        <p:blipFill rotWithShape="1">
          <a:blip r:embed="rId5">
            <a:alphaModFix amt="34000"/>
          </a:blip>
          <a:srcRect b="4404" l="5467" r="5485" t="4395"/>
          <a:stretch/>
        </p:blipFill>
        <p:spPr>
          <a:xfrm>
            <a:off x="0" y="6141750"/>
            <a:ext cx="699376" cy="71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8" name="Google Shape;1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1" y="107825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sz="3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2" name="Google Shape;162;p7"/>
          <p:cNvSpPr txBox="1"/>
          <p:nvPr/>
        </p:nvSpPr>
        <p:spPr>
          <a:xfrm>
            <a:off x="4053150" y="2537625"/>
            <a:ext cx="408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u="sng">
                <a:solidFill>
                  <a:schemeClr val="hlink"/>
                </a:solidFill>
                <a:hlinkClick r:id="rId4"/>
              </a:rPr>
              <a:t>Documento Sprint Backlog - YouConAPP.xlsx - Hojas de cálculo de Google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7" title="Logo-YouConAPP.jpg"/>
          <p:cNvPicPr preferRelativeResize="0"/>
          <p:nvPr/>
        </p:nvPicPr>
        <p:blipFill rotWithShape="1">
          <a:blip r:embed="rId5">
            <a:alphaModFix amt="34000"/>
          </a:blip>
          <a:srcRect b="4404" l="5467" r="5485" t="4395"/>
          <a:stretch/>
        </p:blipFill>
        <p:spPr>
          <a:xfrm>
            <a:off x="0" y="6141750"/>
            <a:ext cx="699376" cy="71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8" name="Google Shape;1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0" y="1035477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sz="3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" name="Google Shape;171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2" name="Google Shape;1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2888" y="1939950"/>
            <a:ext cx="8186214" cy="449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8" title="Logo-YouConAPP.jpg"/>
          <p:cNvPicPr preferRelativeResize="0"/>
          <p:nvPr/>
        </p:nvPicPr>
        <p:blipFill rotWithShape="1">
          <a:blip r:embed="rId5">
            <a:alphaModFix amt="34000"/>
          </a:blip>
          <a:srcRect b="4404" l="5467" r="5485" t="4395"/>
          <a:stretch/>
        </p:blipFill>
        <p:spPr>
          <a:xfrm>
            <a:off x="0" y="6141750"/>
            <a:ext cx="699376" cy="71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8" name="Google Shape;1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80" name="Google Shape;180;p9"/>
          <p:cNvSpPr txBox="1"/>
          <p:nvPr/>
        </p:nvSpPr>
        <p:spPr>
          <a:xfrm>
            <a:off x="0" y="738242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sz="3600"/>
          </a:p>
        </p:txBody>
      </p:sp>
      <p:cxnSp>
        <p:nvCxnSpPr>
          <p:cNvPr id="181" name="Google Shape;181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2" name="Google Shape;182;p9" title="Captura de pantalla 2025-12-09 234637.png"/>
          <p:cNvPicPr preferRelativeResize="0"/>
          <p:nvPr/>
        </p:nvPicPr>
        <p:blipFill rotWithShape="1">
          <a:blip r:embed="rId4">
            <a:alphaModFix/>
          </a:blip>
          <a:srcRect b="0" l="2543" r="2209" t="0"/>
          <a:stretch/>
        </p:blipFill>
        <p:spPr>
          <a:xfrm>
            <a:off x="498137" y="1384750"/>
            <a:ext cx="11468100" cy="542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9" title="Logo-YouConAPP.jpg"/>
          <p:cNvPicPr preferRelativeResize="0"/>
          <p:nvPr/>
        </p:nvPicPr>
        <p:blipFill rotWithShape="1">
          <a:blip r:embed="rId5">
            <a:alphaModFix amt="34000"/>
          </a:blip>
          <a:srcRect b="4404" l="5467" r="5485" t="4395"/>
          <a:stretch/>
        </p:blipFill>
        <p:spPr>
          <a:xfrm>
            <a:off x="0" y="6141750"/>
            <a:ext cx="699376" cy="71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8" name="Google Shape;1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0" y="100091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91" name="Google Shape;191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2" name="Google Shape;19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06475" y="2033738"/>
            <a:ext cx="906399" cy="90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88688" y="3824750"/>
            <a:ext cx="1194900" cy="119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7525" y="2045288"/>
            <a:ext cx="869575" cy="86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0"/>
          <p:cNvSpPr txBox="1"/>
          <p:nvPr/>
        </p:nvSpPr>
        <p:spPr>
          <a:xfrm>
            <a:off x="749975" y="3067700"/>
            <a:ext cx="13647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dk1"/>
                </a:solidFill>
              </a:rPr>
              <a:t>Interfaz UI móvil multiplataforma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13888" y="2033738"/>
            <a:ext cx="951300" cy="95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 txBox="1"/>
          <p:nvPr/>
        </p:nvSpPr>
        <p:spPr>
          <a:xfrm>
            <a:off x="2366375" y="3067700"/>
            <a:ext cx="17628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dk1"/>
                </a:solidFill>
              </a:rPr>
              <a:t>Lógica de negocio y arquitectura modular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30576" y="2033761"/>
            <a:ext cx="869574" cy="86960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0"/>
          <p:cNvSpPr txBox="1"/>
          <p:nvPr/>
        </p:nvSpPr>
        <p:spPr>
          <a:xfrm>
            <a:off x="4228125" y="3067700"/>
            <a:ext cx="17628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dk1"/>
                </a:solidFill>
              </a:rPr>
              <a:t>Tipado estricto y seguridad de código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21638" y="1890300"/>
            <a:ext cx="1099275" cy="109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0"/>
          <p:cNvSpPr txBox="1"/>
          <p:nvPr/>
        </p:nvSpPr>
        <p:spPr>
          <a:xfrm>
            <a:off x="6069000" y="3067700"/>
            <a:ext cx="17628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dk1"/>
                </a:solidFill>
              </a:rPr>
              <a:t>Gestión segura de identidad y sesiones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51338" y="1890304"/>
            <a:ext cx="869575" cy="101899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0"/>
          <p:cNvSpPr txBox="1"/>
          <p:nvPr/>
        </p:nvSpPr>
        <p:spPr>
          <a:xfrm>
            <a:off x="7798100" y="3067700"/>
            <a:ext cx="1976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dk1"/>
                </a:solidFill>
              </a:rPr>
              <a:t>Base de datos NoSQL en tiempo real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22813" y="4080913"/>
            <a:ext cx="1019000" cy="10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 txBox="1"/>
          <p:nvPr/>
        </p:nvSpPr>
        <p:spPr>
          <a:xfrm>
            <a:off x="396123" y="5209313"/>
            <a:ext cx="2072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dk1"/>
                </a:solidFill>
              </a:rPr>
              <a:t>Puente a APIs nativas (Filesystem/Share)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739887" y="4044437"/>
            <a:ext cx="1099276" cy="109927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0"/>
          <p:cNvSpPr txBox="1"/>
          <p:nvPr/>
        </p:nvSpPr>
        <p:spPr>
          <a:xfrm>
            <a:off x="2253335" y="5209325"/>
            <a:ext cx="2072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dk1"/>
                </a:solidFill>
              </a:rPr>
              <a:t>Programación reactiva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dk1"/>
                </a:solidFill>
              </a:rPr>
              <a:t>y flujos asíncronos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780213" y="4026734"/>
            <a:ext cx="770350" cy="1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0"/>
          <p:cNvSpPr txBox="1"/>
          <p:nvPr/>
        </p:nvSpPr>
        <p:spPr>
          <a:xfrm>
            <a:off x="4129185" y="5209313"/>
            <a:ext cx="2072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dk1"/>
                </a:solidFill>
              </a:rPr>
              <a:t>Generación dinámica de reportes PDF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421613" y="4000625"/>
            <a:ext cx="1099300" cy="10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 txBox="1"/>
          <p:nvPr/>
        </p:nvSpPr>
        <p:spPr>
          <a:xfrm>
            <a:off x="5935085" y="5209325"/>
            <a:ext cx="2072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dk1"/>
                </a:solidFill>
              </a:rPr>
              <a:t>Visualización de datos interactiva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7749948" y="5209325"/>
            <a:ext cx="2072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dk1"/>
                </a:solidFill>
              </a:rPr>
              <a:t>Compilación y generación de APK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9771625" y="3067700"/>
            <a:ext cx="1976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dk1"/>
                </a:solidFill>
              </a:rPr>
              <a:t>Entorno de desarrollo optimizado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9723473" y="5209325"/>
            <a:ext cx="2072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dk1"/>
                </a:solidFill>
              </a:rPr>
              <a:t>Control de versiones colaborativo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1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250175" y="3994900"/>
            <a:ext cx="1019000" cy="10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0" title="Logo-YouConAPP.jpg"/>
          <p:cNvPicPr preferRelativeResize="0"/>
          <p:nvPr/>
        </p:nvPicPr>
        <p:blipFill rotWithShape="1">
          <a:blip r:embed="rId16">
            <a:alphaModFix amt="34000"/>
          </a:blip>
          <a:srcRect b="4404" l="5467" r="5485" t="4395"/>
          <a:stretch/>
        </p:blipFill>
        <p:spPr>
          <a:xfrm>
            <a:off x="0" y="6141750"/>
            <a:ext cx="699376" cy="71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1" name="Google Shape;2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2"/>
          <p:cNvSpPr txBox="1"/>
          <p:nvPr/>
        </p:nvSpPr>
        <p:spPr>
          <a:xfrm>
            <a:off x="1" y="109527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sz="3600"/>
          </a:p>
        </p:txBody>
      </p:sp>
      <p:sp>
        <p:nvSpPr>
          <p:cNvPr id="223" name="Google Shape;223;p12"/>
          <p:cNvSpPr txBox="1"/>
          <p:nvPr/>
        </p:nvSpPr>
        <p:spPr>
          <a:xfrm>
            <a:off x="1886350" y="1934300"/>
            <a:ext cx="7977000" cy="3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921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Cumplimiento: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100% de las 25 Historias de Usuario implementadas.</a:t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921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  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Calidad: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Aplicación estable, sin errores bloqueantes en el flujo principal</a:t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921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  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Producto: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APK generado y funcional en dispositivos Android.</a:t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921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  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Gestión: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Mantuvimos una comunicación constante y una organización clara de tareas.</a:t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5475" y="4009875"/>
            <a:ext cx="2378726" cy="20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2" title="Logo-YouConAPP.jpg"/>
          <p:cNvPicPr preferRelativeResize="0"/>
          <p:nvPr/>
        </p:nvPicPr>
        <p:blipFill rotWithShape="1">
          <a:blip r:embed="rId5">
            <a:alphaModFix amt="34000"/>
          </a:blip>
          <a:srcRect b="4404" l="5467" r="5485" t="4395"/>
          <a:stretch/>
        </p:blipFill>
        <p:spPr>
          <a:xfrm>
            <a:off x="0" y="6141750"/>
            <a:ext cx="699376" cy="71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0" name="Google Shape;2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3"/>
          <p:cNvSpPr txBox="1"/>
          <p:nvPr/>
        </p:nvSpPr>
        <p:spPr>
          <a:xfrm>
            <a:off x="1" y="108209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sz="3600"/>
          </a:p>
        </p:txBody>
      </p:sp>
      <p:sp>
        <p:nvSpPr>
          <p:cNvPr id="232" name="Google Shape;232;p13"/>
          <p:cNvSpPr txBox="1"/>
          <p:nvPr/>
        </p:nvSpPr>
        <p:spPr>
          <a:xfrm>
            <a:off x="1103025" y="2126150"/>
            <a:ext cx="9863400" cy="3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921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  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Dificultad Principal: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Gestión y Metodología Ágil.</a:t>
            </a:r>
            <a:endParaRPr b="1"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5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○  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El Problema: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Aunque definimos Sprints, en la práctica tuvimos dificultades para mantener la ritualidad estricta (Daily Meetings, actualizaciones de Trello en tiempo real) debido a cargas académicas externas.</a:t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5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○  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Impacto: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Esto generó momentos de "descoordinación" donde la documentación (Trello)   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no reflejaba el avance real del código, acumulando deuda administrativa hacia el final de los sprints.</a:t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5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○  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Evidencia: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Como se reportó en los informes de avance, hubo retrasos en la subida de evidencias documentales en los primeros sprints.</a:t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5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○  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Solución Aplicada: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Se realizaron jornadas intensivas de alineación para sincronizar el código con la documentación y cumplir con la entrega final.</a:t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58800" rtl="0" algn="l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3" title="Logo-YouConAPP.jpg"/>
          <p:cNvPicPr preferRelativeResize="0"/>
          <p:nvPr/>
        </p:nvPicPr>
        <p:blipFill rotWithShape="1">
          <a:blip r:embed="rId4">
            <a:alphaModFix amt="34000"/>
          </a:blip>
          <a:srcRect b="4404" l="5467" r="5485" t="4395"/>
          <a:stretch/>
        </p:blipFill>
        <p:spPr>
          <a:xfrm>
            <a:off x="0" y="6141750"/>
            <a:ext cx="699376" cy="71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8" name="Google Shape;238;g3af9bfe0e21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af9bfe0e21_0_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240" name="Google Shape;240;g3af9bfe0e21_0_1"/>
          <p:cNvSpPr txBox="1"/>
          <p:nvPr/>
        </p:nvSpPr>
        <p:spPr>
          <a:xfrm>
            <a:off x="136200" y="1551140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Evidencias (Trello y GitHub)</a:t>
            </a:r>
            <a:endParaRPr sz="3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1" name="Google Shape;241;g3af9bfe0e21_0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2" name="Google Shape;242;g3af9bfe0e21_0_1"/>
          <p:cNvPicPr preferRelativeResize="0"/>
          <p:nvPr/>
        </p:nvPicPr>
        <p:blipFill rotWithShape="1">
          <a:blip r:embed="rId4">
            <a:alphaModFix/>
          </a:blip>
          <a:srcRect b="25086" l="0" r="0" t="23518"/>
          <a:stretch/>
        </p:blipFill>
        <p:spPr>
          <a:xfrm>
            <a:off x="6970700" y="2413050"/>
            <a:ext cx="4669825" cy="16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af9bfe0e21_0_1"/>
          <p:cNvPicPr preferRelativeResize="0"/>
          <p:nvPr/>
        </p:nvPicPr>
        <p:blipFill rotWithShape="1">
          <a:blip r:embed="rId5">
            <a:alphaModFix/>
          </a:blip>
          <a:srcRect b="22083" l="0" r="0" t="21365"/>
          <a:stretch/>
        </p:blipFill>
        <p:spPr>
          <a:xfrm>
            <a:off x="1935000" y="2541526"/>
            <a:ext cx="4291425" cy="136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af9bfe0e21_0_1" title="Logo-YouConAPP.jpg"/>
          <p:cNvPicPr preferRelativeResize="0"/>
          <p:nvPr/>
        </p:nvPicPr>
        <p:blipFill rotWithShape="1">
          <a:blip r:embed="rId6">
            <a:alphaModFix amt="34000"/>
          </a:blip>
          <a:srcRect b="4404" l="5467" r="5485" t="4395"/>
          <a:stretch/>
        </p:blipFill>
        <p:spPr>
          <a:xfrm>
            <a:off x="0" y="6141750"/>
            <a:ext cx="699376" cy="71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9" name="Google Shape;2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/>
          <p:nvPr/>
        </p:nvSpPr>
        <p:spPr>
          <a:xfrm>
            <a:off x="1" y="1082317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sz="3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11" title="Enlace APK YouConAp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9275" y="2683550"/>
            <a:ext cx="3793450" cy="379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 txBox="1"/>
          <p:nvPr/>
        </p:nvSpPr>
        <p:spPr>
          <a:xfrm>
            <a:off x="4400550" y="2157725"/>
            <a:ext cx="33909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 Nuestra App!</a:t>
            </a:r>
            <a:endParaRPr b="1"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1" title="Logo-YouConAPP.jpg"/>
          <p:cNvPicPr preferRelativeResize="0"/>
          <p:nvPr/>
        </p:nvPicPr>
        <p:blipFill rotWithShape="1">
          <a:blip r:embed="rId5">
            <a:alphaModFix amt="34000"/>
          </a:blip>
          <a:srcRect b="4404" l="5467" r="5485" t="4395"/>
          <a:stretch/>
        </p:blipFill>
        <p:spPr>
          <a:xfrm>
            <a:off x="0" y="6141750"/>
            <a:ext cx="699376" cy="71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8" name="Google Shape;2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4"/>
          <p:cNvSpPr txBox="1"/>
          <p:nvPr/>
        </p:nvSpPr>
        <p:spPr>
          <a:xfrm>
            <a:off x="-54175" y="107822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sz="3600"/>
          </a:p>
        </p:txBody>
      </p:sp>
      <p:pic>
        <p:nvPicPr>
          <p:cNvPr id="260" name="Google Shape;260;p14" title="Logo-YouConAPP.jpg"/>
          <p:cNvPicPr preferRelativeResize="0"/>
          <p:nvPr/>
        </p:nvPicPr>
        <p:blipFill rotWithShape="1">
          <a:blip r:embed="rId4">
            <a:alphaModFix amt="34000"/>
          </a:blip>
          <a:srcRect b="4404" l="5467" r="5485" t="4395"/>
          <a:stretch/>
        </p:blipFill>
        <p:spPr>
          <a:xfrm>
            <a:off x="0" y="6141750"/>
            <a:ext cx="699376" cy="71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